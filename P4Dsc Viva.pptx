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9" r:id="rId14"/>
    <p:sldId id="270" r:id="rId15"/>
    <p:sldId id="271" r:id="rId16"/>
    <p:sldId id="274" r:id="rId17"/>
    <p:sldId id="277" r:id="rId18"/>
    <p:sldId id="275" r:id="rId19"/>
    <p:sldId id="276" r:id="rId20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8"/>
    <p:restoredTop sz="94689"/>
  </p:normalViewPr>
  <p:slideViewPr>
    <p:cSldViewPr snapToGrid="0">
      <p:cViewPr varScale="1">
        <p:scale>
          <a:sx n="147" d="100"/>
          <a:sy n="147" d="100"/>
        </p:scale>
        <p:origin x="1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2C7B2-EC4C-234F-92B1-8A5A8D294E42}" type="datetimeFigureOut">
              <a:rPr lang="en-LK" smtClean="0"/>
              <a:t>2025-10-18</a:t>
            </a:fld>
            <a:endParaRPr lang="en-L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010CD-FFDB-1944-B5E2-66AC6B5CF769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9513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010CD-FFDB-1944-B5E2-66AC6B5CF769}" type="slidenum">
              <a:rPr lang="en-LK" smtClean="0"/>
              <a:t>2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778867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010CD-FFDB-1944-B5E2-66AC6B5CF769}" type="slidenum">
              <a:rPr lang="en-LK" smtClean="0"/>
              <a:t>6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699497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4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5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4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7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7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08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60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7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5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9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134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57F8A-3A2E-D21C-9575-57663B7B7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GB" b="1" dirty="0"/>
              <a:t>COURSE WORK: PROGRAMMING FOR DATA SCIENCE</a:t>
            </a:r>
            <a:br>
              <a:rPr lang="en-GB" dirty="0"/>
            </a:br>
            <a:r>
              <a:rPr lang="en-GB" b="1" dirty="0"/>
              <a:t>2025.1 BATCH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632CB-F95E-93A2-3072-3D82B10BC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GB" dirty="0"/>
              <a:t>COMScDS251P-015</a:t>
            </a:r>
          </a:p>
        </p:txBody>
      </p:sp>
      <p:pic>
        <p:nvPicPr>
          <p:cNvPr id="4" name="Picture 3" descr="Multi-coloured smoke gradient">
            <a:extLst>
              <a:ext uri="{FF2B5EF4-FFF2-40B4-BE49-F238E27FC236}">
                <a16:creationId xmlns:a16="http://schemas.microsoft.com/office/drawing/2014/main" id="{BB7833AD-8568-2B5D-4D07-C108B9025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88" r="28445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883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6F3FB-1024-E80D-E6EB-ADF5B4305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871758"/>
            <a:ext cx="5227171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1. University</a:t>
            </a:r>
            <a:br>
              <a:rPr lang="en-US" sz="5400" dirty="0"/>
            </a:br>
            <a:r>
              <a:rPr lang="en-US" sz="5400" dirty="0"/>
              <a:t>SYSTEM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4A2F7D-C4E0-A76E-1E74-DA6EC3595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671" y="0"/>
            <a:ext cx="51746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98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920309-254B-799E-752F-9AC6A05FE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anchor="t">
            <a:normAutofit/>
          </a:bodyPr>
          <a:lstStyle/>
          <a:p>
            <a:r>
              <a:rPr lang="en-LK" dirty="0"/>
              <a:t>Course Enrollment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130F8-9781-D2B6-85B3-3AAC3E70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022" y="1014984"/>
            <a:ext cx="6614593" cy="1362456"/>
          </a:xfrm>
        </p:spPr>
        <p:txBody>
          <a:bodyPr anchor="t">
            <a:normAutofit/>
          </a:bodyPr>
          <a:lstStyle/>
          <a:p>
            <a:r>
              <a:rPr lang="en-LK" dirty="0"/>
              <a:t>Cleaner Student class by focuss on data attributes</a:t>
            </a:r>
          </a:p>
          <a:p>
            <a:r>
              <a:rPr lang="en-LK" dirty="0"/>
              <a:t>Implmentation with StudentManager class with Imp seperation</a:t>
            </a:r>
          </a:p>
          <a:p>
            <a:endParaRPr lang="en-LK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A8BC03C-BBEC-8719-5D19-EA2EDE5B0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89" b="5840"/>
          <a:stretch>
            <a:fillRect/>
          </a:stretch>
        </p:blipFill>
        <p:spPr>
          <a:xfrm>
            <a:off x="20" y="2567939"/>
            <a:ext cx="12191980" cy="399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68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3E58B9-E0BA-A68E-B7DB-13B9BF45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9" y="914400"/>
            <a:ext cx="3453844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Courses Manager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7C10D4C-8DED-200E-3237-3345F3F2A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FBE3B6A4-5068-9EBF-BD2D-4C646A8BF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2022" y="843605"/>
            <a:ext cx="6614593" cy="1653536"/>
          </a:xfrm>
        </p:spPr>
        <p:txBody>
          <a:bodyPr anchor="t">
            <a:normAutofit fontScale="92500" lnSpcReduction="10000"/>
          </a:bodyPr>
          <a:lstStyle/>
          <a:p>
            <a:r>
              <a:rPr lang="en-LK" dirty="0"/>
              <a:t>Course Class - future proof</a:t>
            </a:r>
          </a:p>
          <a:p>
            <a:pPr>
              <a:lnSpc>
                <a:spcPct val="100000"/>
              </a:lnSpc>
            </a:pPr>
            <a:r>
              <a:rPr lang="en-US" sz="1700" dirty="0"/>
              <a:t>Course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Credits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Max student allowed</a:t>
            </a:r>
          </a:p>
          <a:p>
            <a:pPr lvl="1">
              <a:lnSpc>
                <a:spcPct val="100000"/>
              </a:lnSpc>
            </a:pPr>
            <a:r>
              <a:rPr lang="en-US" sz="1700" dirty="0"/>
              <a:t>Prerequisites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F7F80F-9EDD-0EEA-B6D7-E116EBA4F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2497143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4D19D73-80D3-80E7-040D-48346EC0E3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5" r="-2" b="-2"/>
          <a:stretch>
            <a:fillRect/>
          </a:stretch>
        </p:blipFill>
        <p:spPr>
          <a:xfrm>
            <a:off x="391433" y="2567939"/>
            <a:ext cx="11607136" cy="380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1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2EAD7-F2D8-2D35-F974-E76F27103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LK" dirty="0"/>
              <a:t>Course Enrollment and Results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D1A6CFA-212E-5993-4F66-0925B5C28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3" y="2110748"/>
            <a:ext cx="6746078" cy="33224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70F7D-2478-6FD2-7612-F898FA801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3304" y="1213570"/>
            <a:ext cx="4460083" cy="511679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endParaRPr lang="en-LK" dirty="0"/>
          </a:p>
          <a:p>
            <a:r>
              <a:rPr lang="en-LK" dirty="0"/>
              <a:t>Results and Grade</a:t>
            </a:r>
          </a:p>
          <a:p>
            <a:r>
              <a:rPr lang="en-LK" dirty="0"/>
              <a:t>Validation with raise </a:t>
            </a:r>
          </a:p>
          <a:p>
            <a:pPr lvl="1"/>
            <a:r>
              <a:rPr lang="en-LK" dirty="0"/>
              <a:t>Enroll  - Already enrolled</a:t>
            </a:r>
          </a:p>
          <a:p>
            <a:pPr lvl="1"/>
            <a:r>
              <a:rPr lang="en-LK" dirty="0"/>
              <a:t>Drop – Not Found</a:t>
            </a:r>
          </a:p>
          <a:p>
            <a:pPr lvl="1"/>
            <a:r>
              <a:rPr lang="en-LK" dirty="0"/>
              <a:t>Set Results – Not Found</a:t>
            </a:r>
          </a:p>
          <a:p>
            <a:pPr lvl="1"/>
            <a:r>
              <a:rPr lang="en-LK" dirty="0"/>
              <a:t>GPA – No Courses</a:t>
            </a:r>
          </a:p>
          <a:p>
            <a:pPr lvl="1"/>
            <a:endParaRPr lang="en-LK" dirty="0"/>
          </a:p>
          <a:p>
            <a:pPr lvl="1"/>
            <a:endParaRPr lang="en-LK" dirty="0"/>
          </a:p>
          <a:p>
            <a:endParaRPr lang="en-LK" dirty="0"/>
          </a:p>
          <a:p>
            <a:endParaRPr lang="en-LK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01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FC1F9-EE71-555F-16C6-88739A81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400" y="4702835"/>
            <a:ext cx="10801350" cy="9787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Course Manager Validation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5508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091558B-CB37-5814-5F6B-6A055C6EAA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" b="3269"/>
          <a:stretch>
            <a:fillRect/>
          </a:stretch>
        </p:blipFill>
        <p:spPr>
          <a:xfrm>
            <a:off x="800100" y="712915"/>
            <a:ext cx="10591800" cy="384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32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D78D-9458-1D39-F836-F8CA535F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2. Data Analysis: E-commerce Data</a:t>
            </a:r>
            <a:br>
              <a:rPr lang="en-GB" dirty="0"/>
            </a:br>
            <a:r>
              <a:rPr lang="en-GB" dirty="0"/>
              <a:t>Analysis</a:t>
            </a:r>
            <a:br>
              <a:rPr lang="en-GB" dirty="0"/>
            </a:br>
            <a:endParaRPr lang="en-LK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C5E0CEF-3C4F-77A6-B48B-8FD5DE694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8187" y="2221992"/>
            <a:ext cx="3735168" cy="3592877"/>
          </a:xfrm>
        </p:spPr>
      </p:pic>
    </p:spTree>
    <p:extLst>
      <p:ext uri="{BB962C8B-B14F-4D97-AF65-F5344CB8AC3E}">
        <p14:creationId xmlns:p14="http://schemas.microsoft.com/office/powerpoint/2010/main" val="1645846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50BC4-25D8-C862-30F6-1DD9E56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5712"/>
            <a:ext cx="4218435" cy="2390687"/>
          </a:xfrm>
        </p:spPr>
        <p:txBody>
          <a:bodyPr>
            <a:normAutofit/>
          </a:bodyPr>
          <a:lstStyle/>
          <a:p>
            <a:r>
              <a:rPr lang="en-LK" dirty="0"/>
              <a:t>2.1 Multi Source Data Collection</a:t>
            </a: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F1B65B13-9FA8-6E7D-7F9C-D1F1D9EC7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28" y="2807854"/>
            <a:ext cx="4590195" cy="302952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ADC89C-EB4E-4AA5-ABBD-448BEC5FA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255110" y="723900"/>
            <a:ext cx="0" cy="54494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9004F-2C8D-7B80-F477-46C540FEB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18" y="555712"/>
            <a:ext cx="5916168" cy="5614416"/>
          </a:xfrm>
        </p:spPr>
        <p:txBody>
          <a:bodyPr>
            <a:normAutofit/>
          </a:bodyPr>
          <a:lstStyle/>
          <a:p>
            <a:r>
              <a:rPr lang="en-LK" dirty="0"/>
              <a:t>Clean architecture (domain/data)</a:t>
            </a:r>
          </a:p>
          <a:p>
            <a:pPr lvl="1"/>
            <a:r>
              <a:rPr lang="en-LK" dirty="0"/>
              <a:t>Domain/Usecases</a:t>
            </a:r>
          </a:p>
          <a:p>
            <a:pPr lvl="2"/>
            <a:r>
              <a:rPr lang="en-GB" dirty="0" err="1"/>
              <a:t>CollectDataUseCases</a:t>
            </a:r>
            <a:r>
              <a:rPr lang="en-GB" dirty="0"/>
              <a:t> [</a:t>
            </a:r>
            <a:r>
              <a:rPr lang="en-GB" dirty="0" err="1"/>
              <a:t>BookScrape</a:t>
            </a:r>
            <a:r>
              <a:rPr lang="en-GB" dirty="0"/>
              <a:t>, </a:t>
            </a:r>
            <a:r>
              <a:rPr lang="en-GB" dirty="0" err="1"/>
              <a:t>EcommerceScrape</a:t>
            </a:r>
            <a:r>
              <a:rPr lang="en-GB" dirty="0"/>
              <a:t>, </a:t>
            </a:r>
            <a:r>
              <a:rPr lang="en-GB" dirty="0" err="1"/>
              <a:t>RSSScrape</a:t>
            </a:r>
            <a:r>
              <a:rPr lang="en-GB" dirty="0"/>
              <a:t>]</a:t>
            </a:r>
          </a:p>
          <a:p>
            <a:pPr lvl="2"/>
            <a:r>
              <a:rPr lang="en-GB" dirty="0" err="1"/>
              <a:t>SaveDataUseCases</a:t>
            </a:r>
            <a:r>
              <a:rPr lang="en-GB" dirty="0"/>
              <a:t> [</a:t>
            </a:r>
            <a:r>
              <a:rPr lang="en-GB" dirty="0" err="1"/>
              <a:t>SaveJson</a:t>
            </a:r>
            <a:r>
              <a:rPr lang="en-GB" dirty="0"/>
              <a:t>]</a:t>
            </a:r>
          </a:p>
          <a:p>
            <a:pPr lvl="1"/>
            <a:r>
              <a:rPr lang="en-GB" dirty="0"/>
              <a:t>Managers</a:t>
            </a:r>
          </a:p>
          <a:p>
            <a:pPr lvl="2"/>
            <a:r>
              <a:rPr lang="en-GB" dirty="0" err="1"/>
              <a:t>IhttpClient</a:t>
            </a:r>
            <a:r>
              <a:rPr lang="en-GB" dirty="0"/>
              <a:t>, </a:t>
            </a:r>
            <a:r>
              <a:rPr lang="en-GB" dirty="0" err="1"/>
              <a:t>IsaveFile</a:t>
            </a:r>
            <a:r>
              <a:rPr lang="en-GB" dirty="0"/>
              <a:t>, </a:t>
            </a:r>
            <a:r>
              <a:rPr lang="en-GB" dirty="0" err="1"/>
              <a:t>IbookScrape</a:t>
            </a:r>
            <a:r>
              <a:rPr lang="en-GB" dirty="0"/>
              <a:t>, </a:t>
            </a:r>
            <a:r>
              <a:rPr lang="en-GB" dirty="0" err="1"/>
              <a:t>IECommerceScrape</a:t>
            </a:r>
            <a:r>
              <a:rPr lang="en-GB" dirty="0"/>
              <a:t>, </a:t>
            </a:r>
            <a:r>
              <a:rPr lang="en-GB" dirty="0" err="1"/>
              <a:t>IRSSXMLScrape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2"/>
            <a:endParaRPr lang="en-GB" dirty="0"/>
          </a:p>
          <a:p>
            <a:pPr lvl="2"/>
            <a:endParaRPr lang="en-LK" dirty="0"/>
          </a:p>
          <a:p>
            <a:pPr lvl="1"/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07406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977C4-5281-2A0A-B46F-9C124C72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65B3A-E96E-C35E-76BB-66291679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dirty="0"/>
              <a:t>Multi Source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F25C8-3AB5-B713-3C41-801728888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2"/>
            <a:endParaRPr lang="en-GB" dirty="0"/>
          </a:p>
          <a:p>
            <a:pPr lvl="2"/>
            <a:endParaRPr lang="en-LK" dirty="0"/>
          </a:p>
          <a:p>
            <a:pPr lvl="1"/>
            <a:endParaRPr lang="en-LK" dirty="0"/>
          </a:p>
        </p:txBody>
      </p:sp>
      <p:pic>
        <p:nvPicPr>
          <p:cNvPr id="5" name="Picture 4" descr="A white lined paper with orange lines&#10;&#10;AI-generated content may be incorrect.">
            <a:extLst>
              <a:ext uri="{FF2B5EF4-FFF2-40B4-BE49-F238E27FC236}">
                <a16:creationId xmlns:a16="http://schemas.microsoft.com/office/drawing/2014/main" id="{EA4D9F12-8C4D-D06E-1C94-B1F430181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38" y="2684019"/>
            <a:ext cx="4867563" cy="1691130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AD192CE-E75E-10A2-6588-13E9FF3F2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198" y="1911928"/>
            <a:ext cx="6369341" cy="390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0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2B8C-8EB3-0D78-9ADC-32D19FA1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4676D-E378-379E-D9A8-5AA254C1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LK" dirty="0"/>
              <a:t>Multi Source Data Collection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5379F-6393-BCC0-3A9F-99ECEC20D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K" dirty="0"/>
              <a:t>Async Requests [coroutines/non thread blocking]</a:t>
            </a:r>
          </a:p>
          <a:p>
            <a:pPr lvl="1"/>
            <a:r>
              <a:rPr lang="en-LK" dirty="0"/>
              <a:t>Blocking Request also added (enable with cmd env param)</a:t>
            </a:r>
          </a:p>
          <a:p>
            <a:r>
              <a:rPr lang="en-LK" dirty="0"/>
              <a:t>Retrying failed requests</a:t>
            </a:r>
          </a:p>
          <a:p>
            <a:pPr lvl="1"/>
            <a:r>
              <a:rPr lang="en-LK" dirty="0"/>
              <a:t>Exponential backoff</a:t>
            </a:r>
          </a:p>
          <a:p>
            <a:pPr lvl="1"/>
            <a:r>
              <a:rPr lang="en-GB" dirty="0"/>
              <a:t>R</a:t>
            </a:r>
            <a:r>
              <a:rPr lang="en-LK" dirty="0"/>
              <a:t>andom jitter</a:t>
            </a:r>
          </a:p>
          <a:p>
            <a:r>
              <a:rPr lang="en-LK" dirty="0"/>
              <a:t>Utils</a:t>
            </a:r>
          </a:p>
          <a:p>
            <a:pPr lvl="1"/>
            <a:r>
              <a:rPr lang="en-GB" dirty="0"/>
              <a:t>L</a:t>
            </a:r>
            <a:r>
              <a:rPr lang="en-LK" dirty="0"/>
              <a:t>ogger interface with console log imp</a:t>
            </a:r>
          </a:p>
          <a:p>
            <a:pPr lvl="1"/>
            <a:r>
              <a:rPr lang="en-GB" dirty="0"/>
              <a:t>E</a:t>
            </a:r>
            <a:r>
              <a:rPr lang="en-LK" dirty="0"/>
              <a:t>cecution time</a:t>
            </a:r>
          </a:p>
          <a:p>
            <a:r>
              <a:rPr lang="en-LK" dirty="0"/>
              <a:t>Unit Tests and Mocks</a:t>
            </a:r>
          </a:p>
          <a:p>
            <a:pPr lvl="1"/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004228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83BE-E7FB-FD8D-7D7A-AEEC32178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Book Scrape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EB19B-8092-51DE-393E-2E89E97CA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LK" dirty="0"/>
              <a:t>Performance</a:t>
            </a:r>
          </a:p>
          <a:p>
            <a:pPr marL="457200" indent="-457200">
              <a:buFont typeface="+mj-lt"/>
              <a:buAutoNum type="arabicPeriod"/>
            </a:pPr>
            <a:r>
              <a:rPr lang="en-LK" dirty="0"/>
              <a:t>Retry</a:t>
            </a:r>
          </a:p>
          <a:p>
            <a:pPr marL="457200" indent="-457200">
              <a:buFont typeface="+mj-lt"/>
              <a:buAutoNum type="arabicPeriod"/>
            </a:pPr>
            <a:endParaRPr lang="en-LK" dirty="0"/>
          </a:p>
          <a:p>
            <a:pPr marL="914400" lvl="1" indent="-457200">
              <a:buFont typeface="+mj-lt"/>
              <a:buAutoNum type="arabicPeriod"/>
            </a:pPr>
            <a:endParaRPr lang="en-LK" dirty="0"/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A4C325B-55D7-2B2D-583F-A0090FDF1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28" y="3044332"/>
            <a:ext cx="9247528" cy="139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17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595F1-72C7-105E-751A-EE86669A5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2.2 Data Cleaning and Preprocessing</a:t>
            </a:r>
            <a:endParaRPr lang="en-LK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D320ED-4BF7-47CB-E06A-346296C1C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815" y="2315545"/>
            <a:ext cx="5648185" cy="31703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EFDF82-5F8B-99BB-88B8-86BD93404893}"/>
              </a:ext>
            </a:extLst>
          </p:cNvPr>
          <p:cNvSpPr txBox="1"/>
          <p:nvPr/>
        </p:nvSpPr>
        <p:spPr>
          <a:xfrm>
            <a:off x="447815" y="1697036"/>
            <a:ext cx="6727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dirty="0"/>
              <a:t>£ need to remove [</a:t>
            </a:r>
            <a:r>
              <a:rPr lang="en-GB" dirty="0"/>
              <a:t>"price", "</a:t>
            </a:r>
            <a:r>
              <a:rPr lang="en-GB" dirty="0" err="1"/>
              <a:t>price_excl_tax</a:t>
            </a:r>
            <a:r>
              <a:rPr lang="en-GB" dirty="0"/>
              <a:t>", "</a:t>
            </a:r>
            <a:r>
              <a:rPr lang="en-GB" dirty="0" err="1"/>
              <a:t>price_incl_tax</a:t>
            </a:r>
            <a:r>
              <a:rPr lang="en-GB" dirty="0"/>
              <a:t>", "tax"</a:t>
            </a:r>
            <a:r>
              <a:rPr lang="en-LK" dirty="0"/>
              <a:t>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7A51E3-8907-3DAE-7824-1D259238A7F5}"/>
              </a:ext>
            </a:extLst>
          </p:cNvPr>
          <p:cNvCxnSpPr>
            <a:cxnSpLocks/>
          </p:cNvCxnSpPr>
          <p:nvPr/>
        </p:nvCxnSpPr>
        <p:spPr>
          <a:xfrm>
            <a:off x="700635" y="2047683"/>
            <a:ext cx="676826" cy="15402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2612C27-102F-AB5D-A7C3-192CA041C778}"/>
              </a:ext>
            </a:extLst>
          </p:cNvPr>
          <p:cNvSpPr txBox="1"/>
          <p:nvPr/>
        </p:nvSpPr>
        <p:spPr>
          <a:xfrm>
            <a:off x="6046267" y="564750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dirty="0"/>
              <a:t>No Use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C1EF6E-E0EE-DB7F-6A6B-BDA3C0204C9D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5175115" y="3429000"/>
            <a:ext cx="1338588" cy="22185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3AC4CC-7048-D7DE-13B2-454314B7B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348" y="2221992"/>
            <a:ext cx="3088046" cy="3080496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6BAE47-51D1-7856-F519-B16C3FD949FE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6513703" y="3587931"/>
            <a:ext cx="3126879" cy="20595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4470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A9CFA-9F0D-9B8C-85B3-6DD9CC15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EE15A-35A8-7BB4-88B7-9DAD98EA5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GB" dirty="0"/>
              <a:t>2.2 Data Cleaning and Preprocessing</a:t>
            </a:r>
            <a:endParaRPr lang="en-LK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44649A-BD58-65B5-FE66-236A34E8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44307"/>
            <a:ext cx="6072188" cy="3764756"/>
          </a:xfrm>
          <a:prstGeom prst="rect">
            <a:avLst/>
          </a:prstGeom>
        </p:spPr>
      </p:pic>
      <p:sp>
        <p:nvSpPr>
          <p:cNvPr id="12" name="Content Placeholder 13">
            <a:extLst>
              <a:ext uri="{FF2B5EF4-FFF2-40B4-BE49-F238E27FC236}">
                <a16:creationId xmlns:a16="http://schemas.microsoft.com/office/drawing/2014/main" id="{CFD5F71A-06D2-5BC4-8210-3FCB0E140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1849121"/>
            <a:ext cx="4191001" cy="4139626"/>
          </a:xfrm>
        </p:spPr>
        <p:txBody>
          <a:bodyPr anchor="b">
            <a:normAutofit/>
          </a:bodyPr>
          <a:lstStyle/>
          <a:p>
            <a:r>
              <a:rPr lang="en-US" dirty="0"/>
              <a:t>Drop</a:t>
            </a:r>
          </a:p>
          <a:p>
            <a:pPr lvl="1"/>
            <a:r>
              <a:rPr lang="en-GB" dirty="0" err="1"/>
              <a:t>price_excl_tax</a:t>
            </a:r>
            <a:endParaRPr lang="en-GB" dirty="0"/>
          </a:p>
          <a:p>
            <a:pPr lvl="1"/>
            <a:r>
              <a:rPr lang="en-GB" dirty="0" err="1"/>
              <a:t>price_incl_tax</a:t>
            </a:r>
            <a:endParaRPr lang="en-GB" dirty="0"/>
          </a:p>
          <a:p>
            <a:pPr lvl="1"/>
            <a:r>
              <a:rPr lang="en-GB" dirty="0"/>
              <a:t>tax</a:t>
            </a:r>
          </a:p>
          <a:p>
            <a:pPr lvl="1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488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5E294-3D3C-EDA4-4132-AC7372C1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2.2 Data Cleaning and Preprocessing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26F2-4A25-8D46-EC20-6B37D6924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LK" dirty="0"/>
              <a:t>Text Normalization</a:t>
            </a:r>
          </a:p>
          <a:p>
            <a:pPr lvl="1"/>
            <a:r>
              <a:rPr lang="en-LK" dirty="0"/>
              <a:t>Remove </a:t>
            </a:r>
            <a:r>
              <a:rPr lang="en-GB" dirty="0"/>
              <a:t>...more </a:t>
            </a:r>
          </a:p>
          <a:p>
            <a:pPr lvl="1"/>
            <a:r>
              <a:rPr lang="en-GB" dirty="0"/>
              <a:t>Remove leading and trailing white spaces</a:t>
            </a:r>
          </a:p>
          <a:p>
            <a:pPr lvl="1"/>
            <a:r>
              <a:rPr lang="en-GB" dirty="0"/>
              <a:t>Remove tabs, consecutive white spaces with single white space</a:t>
            </a:r>
          </a:p>
          <a:p>
            <a:r>
              <a:rPr lang="en-GB" dirty="0"/>
              <a:t>Drop Further columns with analysis</a:t>
            </a:r>
          </a:p>
          <a:p>
            <a:pPr lvl="1"/>
            <a:r>
              <a:rPr lang="en-GB" dirty="0" err="1"/>
              <a:t>product_type</a:t>
            </a:r>
            <a:r>
              <a:rPr lang="en-GB" dirty="0"/>
              <a:t> which are not books are 0 – we can drop </a:t>
            </a:r>
            <a:r>
              <a:rPr lang="en-GB" dirty="0" err="1"/>
              <a:t>product_type</a:t>
            </a:r>
            <a:r>
              <a:rPr lang="en-GB" dirty="0"/>
              <a:t> column</a:t>
            </a:r>
          </a:p>
          <a:p>
            <a:pPr lvl="1"/>
            <a:r>
              <a:rPr lang="en-GB" dirty="0"/>
              <a:t>Not available also 0 – we can drop available column</a:t>
            </a:r>
          </a:p>
          <a:p>
            <a:r>
              <a:rPr lang="en-GB" dirty="0"/>
              <a:t>Int values for Rating, Currently string which not optimal</a:t>
            </a:r>
          </a:p>
          <a:p>
            <a:r>
              <a:rPr lang="en-GB" dirty="0"/>
              <a:t>Save as </a:t>
            </a:r>
            <a:r>
              <a:rPr lang="en-GB" dirty="0" err="1"/>
              <a:t>Jsonl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3110722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DB84A-0A85-DF7D-070E-B2ED28BEC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09637"/>
            <a:ext cx="4397556" cy="13167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100"/>
              <a:t>2.3 Advanced Statistical Analysis</a:t>
            </a:r>
            <a:endParaRPr lang="en-LK" sz="31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7BDB-2E6C-BCC1-0655-BA2EDA3DB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6373"/>
            <a:ext cx="4397554" cy="3983928"/>
          </a:xfrm>
        </p:spPr>
        <p:txBody>
          <a:bodyPr>
            <a:normAutofit fontScale="92500" lnSpcReduction="20000"/>
          </a:bodyPr>
          <a:lstStyle/>
          <a:p>
            <a:r>
              <a:rPr lang="en-LK" dirty="0"/>
              <a:t>Default has 152 books and some categories has only 1</a:t>
            </a:r>
          </a:p>
          <a:p>
            <a:r>
              <a:rPr lang="en-LK" dirty="0"/>
              <a:t>Health are Expensive (Avg 51.45)</a:t>
            </a:r>
          </a:p>
          <a:p>
            <a:r>
              <a:rPr lang="en-LK" dirty="0"/>
              <a:t>Crime are Cheaper (10.97)</a:t>
            </a:r>
          </a:p>
          <a:p>
            <a:r>
              <a:rPr lang="en-GB" dirty="0"/>
              <a:t>Autobiography has large price variation (std:21.47)</a:t>
            </a:r>
          </a:p>
          <a:p>
            <a:r>
              <a:rPr lang="en-GB" dirty="0"/>
              <a:t>Health has consistent price (2.45)</a:t>
            </a:r>
          </a:p>
          <a:p>
            <a:r>
              <a:rPr lang="en-LK" dirty="0"/>
              <a:t> Adult Fiction has highest rating(5) and crime has lowest(1)</a:t>
            </a:r>
          </a:p>
          <a:p>
            <a:r>
              <a:rPr lang="en-LK" dirty="0"/>
              <a:t>Book price gives no information about its rating, not coorelated.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B60ADA-3DB8-6021-78F2-244019671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038" y="1494026"/>
            <a:ext cx="5789508" cy="2431592"/>
          </a:xfrm>
          <a:prstGeom prst="rect">
            <a:avLst/>
          </a:prstGeom>
        </p:spPr>
      </p:pic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8AD9681-E9F2-F740-4859-78F941006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323" y="4168438"/>
            <a:ext cx="2659223" cy="1489501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58189FF-76D2-5BFB-DAB8-7A0DF2F49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038" y="4328283"/>
            <a:ext cx="2942992" cy="120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44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B925-0928-8EFE-086C-83F99E75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2.4 Visualization</a:t>
            </a:r>
            <a:endParaRPr lang="en-L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E10F0-A83F-6C82-8065-FA80D09E7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5" y="1931399"/>
            <a:ext cx="4241016" cy="29952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EC3BAF-D957-AB16-98AB-61A441BC1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1881"/>
            <a:ext cx="4838402" cy="28934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135C1-EF09-197D-D125-C6E614AF6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952" y="3797081"/>
            <a:ext cx="3756498" cy="225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240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5CC46-E7AE-CFC3-F021-1C5200EA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LK" dirty="0"/>
              <a:t>Predictive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FB66C-CD35-1332-6392-C2313A660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Predict pricing using the rating</a:t>
            </a:r>
          </a:p>
          <a:p>
            <a:r>
              <a:rPr lang="en-GB" dirty="0"/>
              <a:t>Linear Regression </a:t>
            </a:r>
          </a:p>
          <a:p>
            <a:r>
              <a:rPr lang="en-GB" dirty="0"/>
              <a:t>MSE</a:t>
            </a:r>
          </a:p>
          <a:p>
            <a:pPr lvl="1"/>
            <a:r>
              <a:rPr lang="en-GB" dirty="0"/>
              <a:t>Train: 206.10</a:t>
            </a:r>
          </a:p>
          <a:p>
            <a:pPr lvl="1"/>
            <a:r>
              <a:rPr lang="en-GB" dirty="0"/>
              <a:t>Test: 214.19</a:t>
            </a:r>
          </a:p>
          <a:p>
            <a:r>
              <a:rPr lang="en-GB" dirty="0"/>
              <a:t>Not Overfitting</a:t>
            </a:r>
          </a:p>
          <a:p>
            <a:r>
              <a:rPr lang="en-GB" dirty="0"/>
              <a:t>Weak Accuracy</a:t>
            </a:r>
          </a:p>
        </p:txBody>
      </p:sp>
    </p:spTree>
    <p:extLst>
      <p:ext uri="{BB962C8B-B14F-4D97-AF65-F5344CB8AC3E}">
        <p14:creationId xmlns:p14="http://schemas.microsoft.com/office/powerpoint/2010/main" val="98704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7BAC-39BB-272A-A374-FAAB2B93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 Data Ethics: AI Ethics in Healthcare Data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99F45-3F6F-F7ED-9CA3-3F034C778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LK" b="1" dirty="0"/>
              <a:t>Skin Cancer Detection Model</a:t>
            </a:r>
          </a:p>
          <a:p>
            <a:r>
              <a:rPr lang="en-LK" dirty="0"/>
              <a:t>Privacy Challenges - No patient identification data extracted</a:t>
            </a:r>
          </a:p>
          <a:p>
            <a:r>
              <a:rPr lang="en-LK" dirty="0"/>
              <a:t>Bias </a:t>
            </a:r>
          </a:p>
          <a:p>
            <a:pPr lvl="1"/>
            <a:r>
              <a:rPr lang="en-GB" dirty="0"/>
              <a:t>Demographic - 80% of images comes from male patients age over 50</a:t>
            </a:r>
          </a:p>
          <a:p>
            <a:pPr lvl="1"/>
            <a:r>
              <a:rPr lang="en-GB" dirty="0"/>
              <a:t>Geographical - 100% of images comes from USA</a:t>
            </a:r>
          </a:p>
          <a:p>
            <a:pPr lvl="1"/>
            <a:r>
              <a:rPr lang="en-GB" dirty="0"/>
              <a:t>Socioeconomic – 80 % of images from homeless hospitals</a:t>
            </a:r>
          </a:p>
          <a:p>
            <a:r>
              <a:rPr lang="en-GB" dirty="0"/>
              <a:t>Ethical decision Making</a:t>
            </a:r>
          </a:p>
          <a:p>
            <a:pPr lvl="1"/>
            <a:r>
              <a:rPr lang="en-GB" dirty="0"/>
              <a:t>Consent for using on AI</a:t>
            </a:r>
          </a:p>
          <a:p>
            <a:pPr lvl="1"/>
            <a:r>
              <a:rPr lang="en-GB" dirty="0"/>
              <a:t>Secured</a:t>
            </a:r>
          </a:p>
          <a:p>
            <a:pPr lvl="1"/>
            <a:r>
              <a:rPr lang="en-GB" dirty="0"/>
              <a:t>Data Audit</a:t>
            </a:r>
          </a:p>
          <a:p>
            <a:pPr lvl="1"/>
            <a:r>
              <a:rPr lang="en-GB" dirty="0"/>
              <a:t>AI decision confirm from doctors</a:t>
            </a:r>
          </a:p>
          <a:p>
            <a:pPr lvl="1"/>
            <a:r>
              <a:rPr lang="en-GB" dirty="0"/>
              <a:t>Carefully communicate unforeseen future risks </a:t>
            </a:r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  <a:p>
            <a:endParaRPr lang="en-LK" dirty="0"/>
          </a:p>
          <a:p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239510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4696-6AC6-0D23-147B-1CE55645A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 Data Ethics: AI Ethics in Healthcare Data</a:t>
            </a:r>
            <a:endParaRPr lang="en-L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9A53-5131-4464-FA24-73D5098D2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GB" dirty="0"/>
              <a:t>Stakeholder Impact Analysis – Case Skin Cancer</a:t>
            </a:r>
          </a:p>
          <a:p>
            <a:pPr marL="457200" lvl="1" indent="0">
              <a:buNone/>
            </a:pPr>
            <a:r>
              <a:rPr lang="en-GB" dirty="0"/>
              <a:t>Patients</a:t>
            </a:r>
          </a:p>
          <a:p>
            <a:pPr lvl="2"/>
            <a:r>
              <a:rPr lang="en-GB" dirty="0"/>
              <a:t>Faster Diagnosis</a:t>
            </a:r>
          </a:p>
          <a:p>
            <a:pPr lvl="2"/>
            <a:r>
              <a:rPr lang="en-GB" dirty="0"/>
              <a:t>Avoid radioactive materials</a:t>
            </a:r>
          </a:p>
          <a:p>
            <a:pPr lvl="2"/>
            <a:r>
              <a:rPr lang="en-GB" dirty="0"/>
              <a:t>Risks of False detection (accuracy of the model)</a:t>
            </a:r>
          </a:p>
          <a:p>
            <a:pPr lvl="1"/>
            <a:r>
              <a:rPr lang="en-GB" dirty="0"/>
              <a:t>Health Care Professionals</a:t>
            </a:r>
          </a:p>
          <a:p>
            <a:pPr lvl="2"/>
            <a:r>
              <a:rPr lang="en-GB" dirty="0"/>
              <a:t>Need to train the interpreting the out put from AI </a:t>
            </a:r>
          </a:p>
          <a:p>
            <a:pPr lvl="2"/>
            <a:r>
              <a:rPr lang="en-GB" dirty="0"/>
              <a:t>Trust</a:t>
            </a:r>
          </a:p>
          <a:p>
            <a:pPr lvl="1"/>
            <a:r>
              <a:rPr lang="en-GB" dirty="0"/>
              <a:t>Researchers</a:t>
            </a:r>
          </a:p>
          <a:p>
            <a:pPr lvl="2"/>
            <a:r>
              <a:rPr lang="en-GB" dirty="0"/>
              <a:t>Large dataset innovations but need to ensure data is used ethically</a:t>
            </a:r>
          </a:p>
          <a:p>
            <a:pPr lvl="1"/>
            <a:endParaRPr lang="en-GB" dirty="0"/>
          </a:p>
          <a:p>
            <a:pPr lvl="1"/>
            <a:endParaRPr lang="en-LK" dirty="0"/>
          </a:p>
        </p:txBody>
      </p:sp>
    </p:spTree>
    <p:extLst>
      <p:ext uri="{BB962C8B-B14F-4D97-AF65-F5344CB8AC3E}">
        <p14:creationId xmlns:p14="http://schemas.microsoft.com/office/powerpoint/2010/main" val="152763631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529</Words>
  <Application>Microsoft Macintosh PowerPoint</Application>
  <PresentationFormat>Widescreen</PresentationFormat>
  <Paragraphs>127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Calisto MT</vt:lpstr>
      <vt:lpstr>Univers Condensed</vt:lpstr>
      <vt:lpstr>ChronicleVTI</vt:lpstr>
      <vt:lpstr>COURSE WORK: PROGRAMMING FOR DATA SCIENCE 2025.1 BATCH</vt:lpstr>
      <vt:lpstr>1. University SYSTEM</vt:lpstr>
      <vt:lpstr>Course Enrollment</vt:lpstr>
      <vt:lpstr>Courses Manager</vt:lpstr>
      <vt:lpstr>Course Enrollment and Results</vt:lpstr>
      <vt:lpstr>Course Manager Validation</vt:lpstr>
      <vt:lpstr>2. Data Analysis: E-commerce Data Analysis </vt:lpstr>
      <vt:lpstr>2.1 Multi Source Data Collection</vt:lpstr>
      <vt:lpstr>Multi Source Data Collection</vt:lpstr>
      <vt:lpstr>Multi Source Data Collection</vt:lpstr>
      <vt:lpstr>Book Scrape Improvements</vt:lpstr>
      <vt:lpstr>2.2 Data Cleaning and Preprocessing</vt:lpstr>
      <vt:lpstr>2.2 Data Cleaning and Preprocessing</vt:lpstr>
      <vt:lpstr>2.2 Data Cleaning and Preprocessing</vt:lpstr>
      <vt:lpstr>2.3 Advanced Statistical Analysis</vt:lpstr>
      <vt:lpstr>2.4 Visualization</vt:lpstr>
      <vt:lpstr>Predictive Analysis</vt:lpstr>
      <vt:lpstr>3 Data Ethics: AI Ethics in Healthcare Data</vt:lpstr>
      <vt:lpstr>3 Data Ethics: AI Ethics in Healthcare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chamika deshan</dc:creator>
  <cp:lastModifiedBy>chamika deshan</cp:lastModifiedBy>
  <cp:revision>4</cp:revision>
  <dcterms:created xsi:type="dcterms:W3CDTF">2025-10-12T04:53:09Z</dcterms:created>
  <dcterms:modified xsi:type="dcterms:W3CDTF">2025-10-18T06:07:26Z</dcterms:modified>
</cp:coreProperties>
</file>